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F3A5F"/>
          </a:solidFill>
          <a:ln/>
        </p:spPr>
      </p:sp>
      <p:pic>
        <p:nvPicPr>
          <p:cNvPr id="3" name="Image 0" descr="/home/claude/work/icons/bub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4389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University of Business and Technology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645920" y="8686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Academic Excellence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Tile Game Built with 2D Computer Graphics Algorithms and Digital Image Processing Techniques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3794760"/>
            <a:ext cx="5029200" cy="0"/>
          </a:xfrm>
          <a:prstGeom prst="line">
            <a:avLst/>
          </a:prstGeom>
          <a:noFill/>
          <a:ln w="25400">
            <a:solidFill>
              <a:srgbClr val="B891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4988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452 – Graphics and Image Processing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Date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44988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44-02  |  16th July 2026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5074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53675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Shaila Shaznin, Lecturer, Dept. of CSE (BUBT)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309360" y="5074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09360" y="53675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Redwan Molla (20235203038)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Supriya Bosu (20235203072)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960120" y="3520440"/>
            <a:ext cx="3840480" cy="0"/>
          </a:xfrm>
          <a:prstGeom prst="line">
            <a:avLst/>
          </a:prstGeom>
          <a:noFill/>
          <a:ln w="38100">
            <a:solidFill>
              <a:srgbClr val="B891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7490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Tile Game Built with 2D Computer Graphics Algorithms and Digital Image Processing Techniques.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Gameplay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round of Simon's Sequence plays out, start to finish.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3055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E6FA8"/>
            </a:solidFill>
            <a:prstDash val="solid"/>
          </a:ln>
        </p:spPr>
      </p:sp>
      <p:pic>
        <p:nvPicPr>
          <p:cNvPr id="6" name="Image 0" descr="/home/claude/work/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271" y="2198583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7568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Observe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generates a random sequence and flashes colored tiles one at a 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3055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8912A"/>
            </a:solidFill>
            <a:prstDash val="solid"/>
          </a:ln>
        </p:spPr>
      </p:sp>
      <p:pic>
        <p:nvPicPr>
          <p:cNvPr id="11" name="Image 1" descr="/home/claude/work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831" y="2198583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07568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Replicate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46520" y="27889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must reproduce the exact sequence before the countdown timer runs out.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41655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E7D5A"/>
            </a:solidFill>
            <a:prstDash val="solid"/>
          </a:ln>
        </p:spPr>
      </p:sp>
      <p:pic>
        <p:nvPicPr>
          <p:cNvPr id="16" name="Image 2" descr="/home/claude/work/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" y="4484583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36168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Progress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22960" y="50749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clicks trigger a scale/rotation animation, increase the score, and append a new tile.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1605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41655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443B"/>
            </a:solidFill>
            <a:prstDash val="solid"/>
          </a:ln>
        </p:spPr>
      </p:sp>
      <p:pic>
        <p:nvPicPr>
          <p:cNvPr id="21" name="Image 3" descr="/home/claude/work/icons/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831" y="4484583"/>
            <a:ext cx="430865" cy="4308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361688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Fail State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446520" y="507492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incorrect click instantly ends the round, triggering a Game Over state and post-game image processing.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in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screenshots captured from the running Pygame build.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14161A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5000"/>
              </a:srgbClr>
            </a:outerShdw>
          </a:effectLst>
        </p:spPr>
      </p:sp>
      <p:pic>
        <p:nvPicPr>
          <p:cNvPr id="5" name="Image 0" descr="/home/claude/work/icons/shot_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2364" y="1828800"/>
            <a:ext cx="2161792" cy="160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575304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Menu — difficulty &amp; board size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72200" y="173736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14161A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5000"/>
              </a:srgbClr>
            </a:outerShdw>
          </a:effectLst>
        </p:spPr>
      </p:sp>
      <p:pic>
        <p:nvPicPr>
          <p:cNvPr id="8" name="Image 1" descr="/home/claude/work/icons/shot_menu_visualiz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852" y="1828800"/>
            <a:ext cx="2091937" cy="1600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3575304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Algorithm Visualizer overlay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406908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14161A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5000"/>
              </a:srgbClr>
            </a:outerShdw>
          </a:effectLst>
        </p:spPr>
      </p:sp>
      <p:pic>
        <p:nvPicPr>
          <p:cNvPr id="11" name="Image 2" descr="/home/claude/work/icons/shot_gameplay_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774" y="4160520"/>
            <a:ext cx="2058973" cy="1600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5907024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Round — HUD &amp; tile field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172200" y="406908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14161A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5000"/>
              </a:srgbClr>
            </a:outerShdw>
          </a:effectLst>
        </p:spPr>
      </p:sp>
      <p:pic>
        <p:nvPicPr>
          <p:cNvPr id="14" name="Image 3" descr="/home/claude/work/icons/shot_gameover_visualiz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755" y="4160520"/>
            <a:ext cx="1976131" cy="1600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72200" y="5907024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 &amp; Replay prompt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Educational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2039112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E6FA8"/>
            </a:solidFill>
            <a:prstDash val="solid"/>
          </a:ln>
        </p:spPr>
      </p:sp>
      <p:pic>
        <p:nvPicPr>
          <p:cNvPr id="5" name="Image 0" descr="/home/claude/work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2126894"/>
            <a:ext cx="555955" cy="55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70992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Principles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83080" y="21945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core 2D drawing algorithms (DDA, Bresenham, Midpoint) purely from scratch — without built-in graphics functions.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2039112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B8912A"/>
            </a:solidFill>
            <a:prstDash val="solid"/>
          </a:ln>
        </p:spPr>
      </p:sp>
      <p:pic>
        <p:nvPicPr>
          <p:cNvPr id="10" name="Image 1" descr="/home/claude/work/icons/x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302" y="2126894"/>
            <a:ext cx="555955" cy="5559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70992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Motion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406640" y="21945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2D geometric transformations (translation, rotation, scaling) via NumPy matrices to animate game objects.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325112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443B"/>
            </a:solidFill>
            <a:prstDash val="solid"/>
          </a:ln>
        </p:spPr>
      </p:sp>
      <p:pic>
        <p:nvPicPr>
          <p:cNvPr id="15" name="Image 2" descr="/home/claude/work/icons/scisso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" y="4412894"/>
            <a:ext cx="555955" cy="5559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99592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Constraining Boundaries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783080" y="44805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line and polygon clipping to perfectly contain dynamic visual effects within playable zones.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370332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4325112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E7D5A"/>
            </a:solidFill>
            <a:prstDash val="solid"/>
          </a:ln>
        </p:spPr>
      </p:sp>
      <p:pic>
        <p:nvPicPr>
          <p:cNvPr id="20" name="Image 3" descr="/home/claude/work/icons/apertu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302" y="4412894"/>
            <a:ext cx="555955" cy="5559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06640" y="399592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Vision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406640" y="448056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spatial filters, correlation, and convolution live during gameplay to alter the visual output.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Hand-Coded UI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 element of the HUD traces back to a hand-written graphics algorithm.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997300" y="1993392"/>
            <a:ext cx="4197096" cy="3310813"/>
          </a:xfrm>
          <a:prstGeom prst="roundRect">
            <a:avLst>
              <a:gd name="adj" fmla="val 2209"/>
            </a:avLst>
          </a:prstGeom>
          <a:solidFill>
            <a:srgbClr val="1B1E24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27000" dist="38100" dir="5400000">
              <a:srgbClr val="1F3A5F">
                <a:alpha val="18000"/>
              </a:srgbClr>
            </a:outerShdw>
          </a:effectLst>
        </p:spPr>
      </p:sp>
      <p:pic>
        <p:nvPicPr>
          <p:cNvPr id="5" name="Image 0" descr="/home/claude/work/icons/shot_gameplay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7028" y="2103120"/>
            <a:ext cx="3977640" cy="30913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97300" y="5359069"/>
            <a:ext cx="4197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gameplay screenshot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965960"/>
            <a:ext cx="54864" cy="960120"/>
          </a:xfrm>
          <a:prstGeom prst="rect">
            <a:avLst/>
          </a:prstGeom>
          <a:solidFill>
            <a:srgbClr val="3E6FA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0391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Borders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236829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Bresenham's Line Algorithm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3063240"/>
            <a:ext cx="54864" cy="960120"/>
          </a:xfrm>
          <a:prstGeom prst="rect">
            <a:avLst/>
          </a:prstGeom>
          <a:solidFill>
            <a:srgbClr val="A8443B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13639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Accent Dots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346557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Midpoint Circle Algorithm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1605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160520"/>
            <a:ext cx="54864" cy="960120"/>
          </a:xfrm>
          <a:prstGeom prst="rect">
            <a:avLst/>
          </a:prstGeom>
          <a:solidFill>
            <a:srgbClr val="3E7D5A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23367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Diagonals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456285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the DDA Line Algorithm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366760" y="23774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66760" y="2377440"/>
            <a:ext cx="54864" cy="960120"/>
          </a:xfrm>
          <a:prstGeom prst="rect">
            <a:avLst/>
          </a:prstGeom>
          <a:solidFill>
            <a:srgbClr val="3E7D5A"/>
          </a:solidFill>
          <a:ln/>
        </p:spPr>
      </p:sp>
      <p:sp>
        <p:nvSpPr>
          <p:cNvPr id="21" name="Text 18"/>
          <p:cNvSpPr/>
          <p:nvPr/>
        </p:nvSpPr>
        <p:spPr>
          <a:xfrm>
            <a:off x="8549640" y="245059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Glossy Panels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549640" y="277977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a Custom Gradient Scanline Fill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366760" y="37033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66760" y="3703320"/>
            <a:ext cx="54864" cy="960120"/>
          </a:xfrm>
          <a:prstGeom prst="rect">
            <a:avLst/>
          </a:prstGeom>
          <a:solidFill>
            <a:srgbClr val="B8912A"/>
          </a:solidFill>
          <a:ln/>
        </p:spPr>
      </p:sp>
      <p:sp>
        <p:nvSpPr>
          <p:cNvPr id="25" name="Text 22"/>
          <p:cNvSpPr/>
          <p:nvPr/>
        </p:nvSpPr>
        <p:spPr>
          <a:xfrm>
            <a:off x="8549640" y="377647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Highlights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549640" y="410565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by Sutherland-Hodgman Polygon Clipping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Graphics Algorithm Matrix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4206240"/>
        </p:xfrm>
        <a:graphic>
          <a:graphicData uri="http://schemas.openxmlformats.org/drawingml/2006/table">
            <a:tbl>
              <a:tblPr/>
              <a:tblGrid>
                <a:gridCol w="2011680"/>
                <a:gridCol w="2468880"/>
                <a:gridCol w="2651760"/>
                <a:gridCol w="3959352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In-Game Application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Drawing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DDA &amp; Bresenham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5A5A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graphics_algorithms.py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the decorative field diagonal, visualizer grid, and sharp tile borders.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 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Bresenham &amp; Midpoint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5A5A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graphics_algorithms.py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Renders the HUD accent dots and procedurally generated victory patterns.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Polygon Filling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Scanline &amp; Custom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5A5A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graphics_algorithms.py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Fills colored tiles, additive glow highlights, and glossy HUD backgrounds.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&amp; Clipping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73152"/>
          </a:xfrm>
          <a:prstGeom prst="rect">
            <a:avLst/>
          </a:prstGeom>
          <a:solidFill>
            <a:srgbClr val="3E6FA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Animation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377440"/>
            <a:ext cx="1188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E6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14600" y="2834640"/>
            <a:ext cx="822960" cy="27432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8" name="Shape 6"/>
          <p:cNvSpPr/>
          <p:nvPr/>
        </p:nvSpPr>
        <p:spPr>
          <a:xfrm rot="1080000">
            <a:off x="3611880" y="2514600"/>
            <a:ext cx="11887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E6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703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R(θ) = [ cosθ -sinθ ; sinθ cosθ 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89204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NumPy for matrix-based translation, rotation, and scaling (e.g., tile press feedback) rather than simple coordinate redrawing in transformations.py.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417320"/>
            <a:ext cx="5349240" cy="73152"/>
          </a:xfrm>
          <a:prstGeom prst="rect">
            <a:avLst/>
          </a:prstGeom>
          <a:solidFill>
            <a:srgbClr val="A8443B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6916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Constraining Reality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 rot="2700000">
            <a:off x="7726680" y="2331720"/>
            <a:ext cx="2377440" cy="2377440"/>
          </a:xfrm>
          <a:prstGeom prst="plus">
            <a:avLst/>
          </a:prstGeom>
          <a:solidFill>
            <a:srgbClr val="3E6FA8">
              <a:alpha val="20000"/>
            </a:srgbClr>
          </a:solidFill>
          <a:ln w="12700">
            <a:solidFill>
              <a:srgbClr val="3E6FA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001000" y="2606040"/>
            <a:ext cx="1828800" cy="1737360"/>
          </a:xfrm>
          <a:prstGeom prst="hexagon">
            <a:avLst/>
          </a:prstGeom>
          <a:solidFill>
            <a:srgbClr val="3E6FA8">
              <a:alpha val="65000"/>
            </a:srgbClr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892040"/>
            <a:ext cx="4709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Cohen-Sutherland (clipping diagonals to the field) and Sutherland-Hodgman (clipping glow effects to exact tile boundaries) in clipping.py.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Concept: Image Processing Effect Tiles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630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Tile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6479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Blur Filter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21945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3E6FA8">
              <a:alpha val="45000"/>
            </a:srgbClr>
          </a:solidFill>
          <a:ln w="19050">
            <a:solidFill>
              <a:srgbClr val="3E6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2404872"/>
            <a:ext cx="502920" cy="22860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21945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3E6FA8">
              <a:alpha val="85000"/>
            </a:srgbClr>
          </a:solidFill>
          <a:ln w="25400">
            <a:solidFill>
              <a:srgbClr val="3E6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2402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 blur on correct hit.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3258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4630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176479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 Filter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21945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A8443B">
              <a:alpha val="45000"/>
            </a:srgbClr>
          </a:solidFill>
          <a:ln w="19050">
            <a:solidFill>
              <a:srgbClr val="A844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2404872"/>
            <a:ext cx="502920" cy="22860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5320" y="219456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A8443B">
              <a:alpha val="85000"/>
            </a:srgbClr>
          </a:solidFill>
          <a:ln w="25400">
            <a:solidFill>
              <a:srgbClr val="A844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2402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edge enhancement on correct hit.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6576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Tile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39593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/ Prewitt Edge-Detection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438912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3E7D5A">
              <a:alpha val="45000"/>
            </a:srgbClr>
          </a:solidFill>
          <a:ln w="19050">
            <a:solidFill>
              <a:srgbClr val="3E7D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65960" y="4599432"/>
            <a:ext cx="502920" cy="22860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22" name="Shape 20"/>
          <p:cNvSpPr/>
          <p:nvPr/>
        </p:nvSpPr>
        <p:spPr>
          <a:xfrm>
            <a:off x="2651760" y="438912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3E7D5A">
              <a:alpha val="85000"/>
            </a:srgbClr>
          </a:solidFill>
          <a:ln w="25400">
            <a:solidFill>
              <a:srgbClr val="3E7D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434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edge extraction on correct hit.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35204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36576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Tile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46520" y="39593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9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Emboss Filter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438912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B8912A">
              <a:alpha val="45000"/>
            </a:srgbClr>
          </a:solidFill>
          <a:ln w="19050">
            <a:solidFill>
              <a:srgbClr val="B891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4599432"/>
            <a:ext cx="502920" cy="22860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4389120"/>
            <a:ext cx="640080" cy="640080"/>
          </a:xfrm>
          <a:prstGeom prst="roundRect">
            <a:avLst>
              <a:gd name="adj" fmla="val 7143"/>
            </a:avLst>
          </a:prstGeom>
          <a:solidFill>
            <a:srgbClr val="B8912A">
              <a:alpha val="85000"/>
            </a:srgbClr>
          </a:solidFill>
          <a:ln w="25400">
            <a:solidFill>
              <a:srgbClr val="B891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44348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3D depth illusion on correct hit.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EFEFEA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indent="0" marL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 click functions as a live demonstration of custom correlation/convolution functions driven by image_filters.py.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Post-Game Processing &amp; Matplotlib Integration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17320"/>
            <a:ext cx="3566160" cy="73152"/>
          </a:xfrm>
          <a:prstGeom prst="rect">
            <a:avLst/>
          </a:prstGeom>
          <a:solidFill>
            <a:srgbClr val="3E6FA8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173736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E6FA8"/>
            </a:solidFill>
            <a:prstDash val="solid"/>
          </a:ln>
        </p:spPr>
      </p:sp>
      <p:pic>
        <p:nvPicPr>
          <p:cNvPr id="6" name="Image 0" descr="/home/claude/work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995" y="183611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Capture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screenshot is taken the moment a 'Game Over' occurs.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6384" y="4306824"/>
            <a:ext cx="3090672" cy="1749552"/>
          </a:xfrm>
          <a:prstGeom prst="roundRect">
            <a:avLst>
              <a:gd name="adj" fmla="val 2613"/>
            </a:avLst>
          </a:prstGeom>
          <a:solidFill>
            <a:srgbClr val="14161A"/>
          </a:solidFill>
          <a:ln w="12700">
            <a:solidFill>
              <a:srgbClr val="D8DCE2"/>
            </a:solidFill>
            <a:prstDash val="solid"/>
          </a:ln>
        </p:spPr>
      </p:sp>
      <p:pic>
        <p:nvPicPr>
          <p:cNvPr id="10" name="Image 1" descr="/home/claude/work/icons/gameover_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43400"/>
            <a:ext cx="3017520" cy="1676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33088" y="3634740"/>
            <a:ext cx="164592" cy="27432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2" name="Shape 8"/>
          <p:cNvSpPr/>
          <p:nvPr/>
        </p:nvSpPr>
        <p:spPr>
          <a:xfrm>
            <a:off x="4315968" y="141732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15968" y="1417320"/>
            <a:ext cx="3566160" cy="73152"/>
          </a:xfrm>
          <a:prstGeom prst="rect">
            <a:avLst/>
          </a:prstGeom>
          <a:solidFill>
            <a:srgbClr val="A8443B"/>
          </a:solidFill>
          <a:ln/>
        </p:spPr>
      </p:sp>
      <p:sp>
        <p:nvSpPr>
          <p:cNvPr id="14" name="Shape 10"/>
          <p:cNvSpPr/>
          <p:nvPr/>
        </p:nvSpPr>
        <p:spPr>
          <a:xfrm>
            <a:off x="5687568" y="173736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443B"/>
            </a:solidFill>
            <a:prstDash val="solid"/>
          </a:ln>
        </p:spPr>
      </p:sp>
      <p:pic>
        <p:nvPicPr>
          <p:cNvPr id="15" name="Image 2" descr="/home/claude/work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323" y="1836115"/>
            <a:ext cx="625450" cy="625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98848" y="2743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 Processing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636008" y="329184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passed through custom spatial filters (mean, median, sharpen, edge detection).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900416" y="3634740"/>
            <a:ext cx="164592" cy="274320"/>
          </a:xfrm>
          <a:prstGeom prst="rightArrow">
            <a:avLst/>
          </a:prstGeom>
          <a:solidFill>
            <a:srgbClr val="5A5A5A"/>
          </a:solidFill>
          <a:ln/>
        </p:spPr>
      </p:sp>
      <p:sp>
        <p:nvSpPr>
          <p:cNvPr id="19" name="Shape 14"/>
          <p:cNvSpPr/>
          <p:nvPr/>
        </p:nvSpPr>
        <p:spPr>
          <a:xfrm>
            <a:off x="8083296" y="141732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83296" y="1417320"/>
            <a:ext cx="3566160" cy="73152"/>
          </a:xfrm>
          <a:prstGeom prst="rect">
            <a:avLst/>
          </a:prstGeom>
          <a:solidFill>
            <a:srgbClr val="3E7D5A"/>
          </a:solidFill>
          <a:ln/>
        </p:spPr>
      </p:sp>
      <p:sp>
        <p:nvSpPr>
          <p:cNvPr id="21" name="Shape 16"/>
          <p:cNvSpPr/>
          <p:nvPr/>
        </p:nvSpPr>
        <p:spPr>
          <a:xfrm>
            <a:off x="9454896" y="173736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E7D5A"/>
            </a:solidFill>
            <a:prstDash val="solid"/>
          </a:ln>
        </p:spPr>
      </p:sp>
      <p:pic>
        <p:nvPicPr>
          <p:cNvPr id="22" name="Image 3" descr="/home/claude/work/icons/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651" y="1836115"/>
            <a:ext cx="625450" cy="625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66176" y="2743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Output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8403336" y="329184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presses 'M' to launch Matplotlib, displaying the original and mathematically filtered versions side-by-side for academic comparison.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3E6FA8">
              <a:alpha val="12000"/>
            </a:srgbClr>
          </a:solidFill>
          <a:ln w="19050">
            <a:solidFill>
              <a:srgbClr val="3E6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105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Visualization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304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&amp; Matplotlib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2263140"/>
            <a:ext cx="502920" cy="0"/>
          </a:xfrm>
          <a:prstGeom prst="line">
            <a:avLst/>
          </a:prstGeom>
          <a:noFill/>
          <a:ln w="15875">
            <a:solidFill>
              <a:srgbClr val="3E6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1554480"/>
            <a:ext cx="6217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1664208"/>
            <a:ext cx="576072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rendering, input events, sound, and post-game image comparisons. Crucial Note: Pygame is strictly used for the window — no built-in drawing functions are used!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A8443B">
              <a:alpha val="12000"/>
            </a:srgbClr>
          </a:solidFill>
          <a:ln w="19050">
            <a:solidFill>
              <a:srgbClr val="A844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64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858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Python Modules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3817620"/>
            <a:ext cx="502920" cy="0"/>
          </a:xfrm>
          <a:prstGeom prst="line">
            <a:avLst/>
          </a:prstGeom>
          <a:noFill/>
          <a:ln w="15875">
            <a:solidFill>
              <a:srgbClr val="A844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3108960"/>
            <a:ext cx="6217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3218688"/>
            <a:ext cx="576072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graphics_algorithms.py, clipping.py, image_filters.py acting as a completely custom graphics and convolution engine.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3E7D5A">
              <a:alpha val="12000"/>
            </a:srgbClr>
          </a:solidFill>
          <a:ln w="19050">
            <a:solidFill>
              <a:srgbClr val="3E7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9194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Foundation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413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&amp; NumPy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46320" y="5372100"/>
            <a:ext cx="502920" cy="0"/>
          </a:xfrm>
          <a:prstGeom prst="line">
            <a:avLst/>
          </a:prstGeom>
          <a:noFill/>
          <a:ln w="15875">
            <a:solidFill>
              <a:srgbClr val="3E7D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4663440"/>
            <a:ext cx="6217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C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23560" y="4773168"/>
            <a:ext cx="5760720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all matrix transformations, pixel array operations, and filter calculations.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“Glass &amp; Glow” UX Redesign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737360" cy="1737360"/>
          </a:xfrm>
          <a:prstGeom prst="ellipse">
            <a:avLst/>
          </a:prstGeom>
          <a:solidFill>
            <a:srgbClr val="3E6FA8"/>
          </a:solidFill>
          <a:ln w="25400">
            <a:solidFill>
              <a:srgbClr val="D8DC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" y="1687068"/>
            <a:ext cx="1563624" cy="1563624"/>
          </a:xfrm>
          <a:prstGeom prst="ellipse">
            <a:avLst/>
          </a:prstGeom>
          <a:solidFill>
            <a:srgbClr val="A8443B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410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Gradient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71800" y="1600200"/>
            <a:ext cx="1737360" cy="1737360"/>
          </a:xfrm>
          <a:prstGeom prst="ellipse">
            <a:avLst/>
          </a:prstGeom>
          <a:solidFill>
            <a:srgbClr val="B8912A"/>
          </a:solidFill>
          <a:ln w="25400">
            <a:solidFill>
              <a:srgbClr val="D8DC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8668" y="1687068"/>
            <a:ext cx="1563624" cy="1563624"/>
          </a:xfrm>
          <a:prstGeom prst="ellipse">
            <a:avLst/>
          </a:prstGeom>
          <a:solidFill>
            <a:srgbClr val="3E6FA8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3410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Halo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1737360" cy="1737360"/>
          </a:xfrm>
          <a:prstGeom prst="ellipse">
            <a:avLst/>
          </a:prstGeom>
          <a:solidFill>
            <a:srgbClr val="1F3A5F"/>
          </a:solidFill>
          <a:ln w="25400">
            <a:solidFill>
              <a:srgbClr val="D8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" y="4064508"/>
            <a:ext cx="1563624" cy="1563624"/>
          </a:xfrm>
          <a:prstGeom prst="ellipse">
            <a:avLst/>
          </a:prstGeom>
          <a:solidFill>
            <a:srgbClr val="3E6FA8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57881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Menu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Elements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14884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Rounded, gradient-filled tiles with soft additive glow halos.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Translucent glass panels used for the HUD and pause menus.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vertical-gradient backgrounds for performance.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4160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0FA"/>
          </a:solidFill>
          <a:ln w="19050">
            <a:solidFill>
              <a:srgbClr val="3E6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3434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 Catch:  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modern aesthetic is achieved entirely from scratch using custom rounded_rect_points, fill_polygon_gradient, and Pygame PixelArrays for horizontal scanline speed.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Bonus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97380" y="1828800"/>
            <a:ext cx="8686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E6FA8"/>
            </a:solidFill>
            <a:prstDash val="solid"/>
          </a:ln>
        </p:spPr>
      </p:sp>
      <p:pic>
        <p:nvPicPr>
          <p:cNvPr id="5" name="Image 0" descr="/home/claude/work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1622" y="1933042"/>
            <a:ext cx="660197" cy="6601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Algorithm Visualizer (V)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3657600"/>
            <a:ext cx="2926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 panel that continuously animates the DDA and Bresenham algorithms one step at a time, printing the math's decision variables in real-time.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619845" y="5129784"/>
            <a:ext cx="1423750" cy="941832"/>
          </a:xfrm>
          <a:prstGeom prst="roundRect">
            <a:avLst>
              <a:gd name="adj" fmla="val 4854"/>
            </a:avLst>
          </a:prstGeom>
          <a:solidFill>
            <a:srgbClr val="14161A"/>
          </a:solidFill>
          <a:ln w="12700">
            <a:solidFill>
              <a:srgbClr val="D8DCE2"/>
            </a:solidFill>
            <a:prstDash val="solid"/>
          </a:ln>
        </p:spPr>
      </p:sp>
      <p:pic>
        <p:nvPicPr>
          <p:cNvPr id="9" name="Image 1" descr="/home/claude/work/icons/visualizer_inset_bresenh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421" y="5166360"/>
            <a:ext cx="1350598" cy="8686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15968" y="1463040"/>
            <a:ext cx="3566160" cy="466344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64708" y="1828800"/>
            <a:ext cx="8686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8443B"/>
            </a:solidFill>
            <a:prstDash val="solid"/>
          </a:ln>
        </p:spPr>
      </p:sp>
      <p:pic>
        <p:nvPicPr>
          <p:cNvPr id="12" name="Image 2" descr="/home/claude/work/icons/re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950" y="1933042"/>
            <a:ext cx="660197" cy="6601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44568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Replay System (R)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636008" y="36576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recording of all flashes and clicks, allowing frame-by-frame automated playback of the entire session — including live filter effects.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083296" y="1463040"/>
            <a:ext cx="3566160" cy="4663440"/>
          </a:xfrm>
          <a:prstGeom prst="roundRect">
            <a:avLst>
              <a:gd name="adj" fmla="val 2051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432036" y="1828800"/>
            <a:ext cx="868680" cy="8686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E7D5A"/>
            </a:solidFill>
            <a:prstDash val="solid"/>
          </a:ln>
        </p:spPr>
      </p:sp>
      <p:pic>
        <p:nvPicPr>
          <p:cNvPr id="17" name="Image 3" descr="/home/claude/work/icons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278" y="1933042"/>
            <a:ext cx="660197" cy="66019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11896" y="2880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Fill Victory Sequence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403336" y="36576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stack-based flood fill algorithm that colors a procedurally generated victory shape (star/flower) every 5 successful rounds.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124048" y="2103120"/>
            <a:ext cx="5943600" cy="2926080"/>
          </a:xfrm>
          <a:prstGeom prst="roundRect">
            <a:avLst>
              <a:gd name="adj" fmla="val 2500"/>
            </a:avLst>
          </a:prstGeom>
          <a:solidFill>
            <a:srgbClr val="F4F5F7"/>
          </a:solidFill>
          <a:ln w="12700">
            <a:solidFill>
              <a:srgbClr val="D8DCE2"/>
            </a:solidFill>
            <a:prstDash val="solid"/>
          </a:ln>
          <a:effectLst>
            <a:outerShdw sx="100000" sy="100000" kx="0" ky="0" algn="bl" rotWithShape="0" blurRad="101600" dist="25400" dir="5400000">
              <a:srgbClr val="1F3A5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84368" y="246888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E6FA8"/>
            </a:solidFill>
            <a:prstDash val="solid"/>
          </a:ln>
        </p:spPr>
      </p:sp>
      <p:pic>
        <p:nvPicPr>
          <p:cNvPr id="5" name="Image 0" descr="/home/claude/work/icons/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3123" y="256763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89808" y="3474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E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Level System Integration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672688" y="39776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the development of a progressive level system for the game, introducing new challenges, visual elements, and gameplay mechanics at each stage.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Simon's Sequence — CSE 452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2026-08-08T17:03:50Z</dcterms:created>
  <dcterms:modified xsi:type="dcterms:W3CDTF">2026-08-08T17:03:50Z</dcterms:modified>
</cp:coreProperties>
</file>